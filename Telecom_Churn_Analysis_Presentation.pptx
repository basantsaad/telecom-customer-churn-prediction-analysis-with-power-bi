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7F7D"/>
    <a:srgbClr val="298F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CC4-49E2-8D03-6528B154B708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CC4-49E2-8D03-6528B154B708}"/>
              </c:ext>
            </c:extLst>
          </c:dPt>
          <c:dPt>
            <c:idx val="2"/>
            <c:bubble3D val="0"/>
            <c:spPr>
              <a:solidFill>
                <a:srgbClr val="3498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CC4-49E2-8D03-6528B154B70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CC4-49E2-8D03-6528B154B70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CC4-49E2-8D03-6528B154B70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CC4-49E2-8D03-6528B154B70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Stayed</c:v>
                </c:pt>
                <c:pt idx="1">
                  <c:v>Churned</c:v>
                </c:pt>
                <c:pt idx="2">
                  <c:v>Joined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4500</c:v>
                </c:pt>
                <c:pt idx="1">
                  <c:v>1870</c:v>
                </c:pt>
                <c:pt idx="2">
                  <c:v>673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CC4-49E2-8D03-6528B154B7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Logistic
Regression</c:v>
                </c:pt>
                <c:pt idx="1">
                  <c:v>Decision
Tree</c:v>
                </c:pt>
                <c:pt idx="2">
                  <c:v>Random
Forest</c:v>
                </c:pt>
                <c:pt idx="3">
                  <c:v>Gradient
Boosting</c:v>
                </c:pt>
                <c:pt idx="4">
                  <c:v>KNN</c:v>
                </c:pt>
                <c:pt idx="5">
                  <c:v>Naive
Bayes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76.2</c:v>
                </c:pt>
                <c:pt idx="1">
                  <c:v>72.5</c:v>
                </c:pt>
                <c:pt idx="2">
                  <c:v>82.3</c:v>
                </c:pt>
                <c:pt idx="3">
                  <c:v>80.099999999999994</c:v>
                </c:pt>
                <c:pt idx="4">
                  <c:v>74.8</c:v>
                </c:pt>
                <c:pt idx="5">
                  <c:v>68.900000000000006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2E-4908-8415-8F3E955135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Tenure in Months</c:v>
                </c:pt>
                <c:pt idx="1">
                  <c:v>Monthly Charge</c:v>
                </c:pt>
                <c:pt idx="2">
                  <c:v>Total Revenue</c:v>
                </c:pt>
                <c:pt idx="3">
                  <c:v>Contract Type</c:v>
                </c:pt>
                <c:pt idx="4">
                  <c:v>Internet Type</c:v>
                </c:pt>
                <c:pt idx="5">
                  <c:v>Total Services</c:v>
                </c:pt>
                <c:pt idx="6">
                  <c:v>Age</c:v>
                </c:pt>
                <c:pt idx="7">
                  <c:v>Payment Method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18.399999999999999</c:v>
                </c:pt>
                <c:pt idx="1">
                  <c:v>15.6</c:v>
                </c:pt>
                <c:pt idx="2">
                  <c:v>14.2</c:v>
                </c:pt>
                <c:pt idx="3">
                  <c:v>12.8</c:v>
                </c:pt>
                <c:pt idx="4">
                  <c:v>9.5</c:v>
                </c:pt>
                <c:pt idx="5">
                  <c:v>8.6999999999999993</c:v>
                </c:pt>
                <c:pt idx="6">
                  <c:v>7.3999999999999995</c:v>
                </c:pt>
                <c:pt idx="7">
                  <c:v>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73-4FAF-9648-A0BC031513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285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9DC3C-A5E0-7CBC-90F4-5504A1E31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AB7C5D-9163-9D41-F3EA-4D3FC5B5F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4A9E7E-578D-8B35-6744-48B8A22580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728A6F-ECB5-2FF1-A6A8-122240C1D6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4831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pp.powerbi.com/groups/me/reports/596c9396-ddc5-4ac2-9768-5ac329cbb352/50ff5eee92f7e05b398f?experience=power-bi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Telecom Customer Churn Analysis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Data Analysis &amp; Machine Learning Pipeline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• EDA • Feature Engineering • ML Models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097280"/>
          </a:xfrm>
          <a:prstGeom prst="rect">
            <a:avLst/>
          </a:prstGeom>
          <a:solidFill>
            <a:srgbClr val="F7F9FB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1280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7,043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Customers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4023360" cy="1097280"/>
          </a:xfrm>
          <a:prstGeom prst="rect">
            <a:avLst/>
          </a:prstGeom>
          <a:solidFill>
            <a:srgbClr val="F7F9FB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📉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760720" y="1280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26.6%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76072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4023360" cy="1097280"/>
          </a:xfrm>
          <a:prstGeom prst="rect">
            <a:avLst/>
          </a:prstGeom>
          <a:solidFill>
            <a:srgbClr val="F7F9FB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🧹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71600" y="2651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22,706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3108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 Cleaned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2468880"/>
            <a:ext cx="4023360" cy="1097280"/>
          </a:xfrm>
          <a:prstGeom prst="rect">
            <a:avLst/>
          </a:prstGeom>
          <a:solidFill>
            <a:srgbClr val="F7F9FB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2064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760720" y="2651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75-85%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760720" y="3108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 Accuracy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covers complete data cleaning, exploratory analysis, relationship discovery, feature engineering, and comparison of 6 machine learning models for customer status prediction.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Processing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371600"/>
            <a:ext cx="731520" cy="731520"/>
          </a:xfrm>
          <a:prstGeom prst="ellipse">
            <a:avLst/>
          </a:prstGeom>
          <a:solidFill>
            <a:srgbClr val="00A896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" y="2286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Data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" y="2560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datasets merged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97280" y="1645920"/>
            <a:ext cx="457200" cy="182880"/>
          </a:xfrm>
          <a:prstGeom prst="rightArrow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737360" y="1371600"/>
            <a:ext cx="731520" cy="731520"/>
          </a:xfrm>
          <a:prstGeom prst="ellipse">
            <a:avLst/>
          </a:prstGeom>
          <a:solidFill>
            <a:srgbClr val="00A896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3736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554480" y="2286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54480" y="2560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22,706 missing → 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1645920"/>
            <a:ext cx="457200" cy="182880"/>
          </a:xfrm>
          <a:prstGeom prst="rightArrow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1371600"/>
            <a:ext cx="731520" cy="731520"/>
          </a:xfrm>
          <a:prstGeom prst="ellipse">
            <a:avLst/>
          </a:prstGeom>
          <a:solidFill>
            <a:srgbClr val="00A896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017520" y="2286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2560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&amp; relationships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23360" y="1645920"/>
            <a:ext cx="457200" cy="182880"/>
          </a:xfrm>
          <a:prstGeom prst="rightArrow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1371600"/>
            <a:ext cx="731520" cy="731520"/>
          </a:xfrm>
          <a:prstGeom prst="ellipse">
            <a:avLst/>
          </a:prstGeom>
          <a:solidFill>
            <a:srgbClr val="00A896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6344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480560" y="2286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0" y="2560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features created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0" y="1645920"/>
            <a:ext cx="457200" cy="182880"/>
          </a:xfrm>
          <a:prstGeom prst="rightArrow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26480" y="1371600"/>
            <a:ext cx="731520" cy="731520"/>
          </a:xfrm>
          <a:prstGeom prst="ellipse">
            <a:avLst/>
          </a:prstGeom>
          <a:solidFill>
            <a:srgbClr val="00A896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2648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943600" y="2286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0" y="2560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ML algorithms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49440" y="1645920"/>
            <a:ext cx="457200" cy="182880"/>
          </a:xfrm>
          <a:prstGeom prst="rightArrow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589520" y="1371600"/>
            <a:ext cx="731520" cy="731520"/>
          </a:xfrm>
          <a:prstGeom prst="ellipse">
            <a:avLst/>
          </a:prstGeom>
          <a:solidFill>
            <a:srgbClr val="00A896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58952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406640" y="2286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06640" y="2560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model selected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Summary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Original: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7,043 customers, 40+ columns  •  </a:t>
            </a: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Final: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complete, merged with population data  •  </a:t>
            </a: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35+ engineered features for ML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BEFORE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Missing Values: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22,706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Duplicates: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count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Completeness: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67.8%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Quality Issues: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AFTER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Missing Values: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Duplicates: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removed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Completeness: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Quality: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&amp; verified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Status Distribution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Variable for ML Prediction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914400" y="1371600"/>
          <a:ext cx="3657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029200" y="1371600"/>
            <a:ext cx="3657600" cy="3200400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2920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303520" y="210312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Stayed: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~63.9% of customers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Active, retained customers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Churned: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~26.6% of customers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the service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Joined: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~9.5% of customers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Recently acquired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Relationships Discovered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73152" cy="14630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Type Impact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Month-to-month contracts show significantly higher churn rates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contracts = better retention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73152" cy="14630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Tenure Effect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1691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with 0-12 months tenure are most likely to churn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0" y="2194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year is critical for retention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73152" cy="14630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3063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Correlation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429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with multiple services have lower churn rates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services to increase stickiness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92608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46320" y="2926080"/>
            <a:ext cx="73152" cy="14630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20640" y="3063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Sensitivity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20640" y="3429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charges above $70 correlate with increased churn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3931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optimization opportunity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4563E9-897B-9215-6593-14272FFD3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8949080-A5C2-86D0-5FE0-F42BD42E5B90}"/>
              </a:ext>
            </a:extLst>
          </p:cNvPr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Telecom Customer Churn Analysis</a:t>
            </a:r>
            <a:endParaRPr lang="en-US" sz="4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E41B7CC-3EE6-2C92-A632-7EB6F9EF6264}"/>
              </a:ext>
            </a:extLst>
          </p:cNvPr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Data Analysis &amp; Machine Learning Pipeline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0A0C57D-B5CF-C5AD-3BB7-03576039BF0A}"/>
              </a:ext>
            </a:extLst>
          </p:cNvPr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• EDA • Feature Engineering • ML Models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9D0E97-C722-8F31-D259-D7E10AFD49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22" b="1139"/>
          <a:stretch>
            <a:fillRect/>
          </a:stretch>
        </p:blipFill>
        <p:spPr>
          <a:xfrm>
            <a:off x="733124" y="185364"/>
            <a:ext cx="7677752" cy="42037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1A733B-4134-1ADA-EF11-3C64CD599B2D}"/>
              </a:ext>
            </a:extLst>
          </p:cNvPr>
          <p:cNvSpPr txBox="1"/>
          <p:nvPr/>
        </p:nvSpPr>
        <p:spPr>
          <a:xfrm>
            <a:off x="400930" y="4558026"/>
            <a:ext cx="82858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of Dashboard</a:t>
            </a:r>
            <a:br>
              <a:rPr lang="en-US" sz="10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US" sz="10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https://app.powerbi.com/groups/me/reports/596c9396-ddc5-4ac2-9768-5ac329cbb352/50ff5eee92f7e05b398f?experience=power-bi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4484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Features Created to Enhance ML Performance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Categorical Binning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Tenure Category • Age Category • Charge Category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Aggregation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Services Count • Has Streaming Flag • Has Dependents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Metrics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Per Month • Service Diversity Score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Impact: Feature engineering improved model accuracy by 8-12 percentage points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Model Comparison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8229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858000" y="1371600"/>
            <a:ext cx="182880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85800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Winner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Forest: Detailed Performance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914400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82.3%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0" y="1463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correct predictions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4023360" cy="914400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0" y="1325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81.7%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132320" y="1463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of positive predictions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4023360" cy="914400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514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788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82.3%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743200" y="2651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of actual positives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2377440"/>
            <a:ext cx="4023360" cy="914400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20640" y="2514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2788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81.9%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132320" y="2651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Harmonic mean of P&amp;R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Model Strengths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complex relationships between features  •  Robust against overfitting  •  Provides feature importance rankings  •  Excellent balance of precision and recall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Feature Importance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Drives Customer Status?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8229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Recommendations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97280" y="1097280"/>
            <a:ext cx="7589520" cy="822960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8016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Early Retention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508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proactive engagement program for customers in first 12 months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0" y="1325880"/>
            <a:ext cx="1280160" cy="3657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0" y="13258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Impact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97280" y="2057400"/>
            <a:ext cx="7589520" cy="822960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80160" y="2148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Long-Term Contracts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468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Incentivize annual/2-year contracts with discounts and perks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0" y="2286000"/>
            <a:ext cx="1280160" cy="3657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0" y="22860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Impact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97280" y="3017520"/>
            <a:ext cx="7589520" cy="822960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80160" y="3108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Bundling Strategy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3429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Cross-sell additional services to increase customer stickiness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32320" y="3246120"/>
            <a:ext cx="1280160" cy="365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32320" y="3246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Impact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97280" y="3977640"/>
            <a:ext cx="7589520" cy="822960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280160" y="4069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Optimization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80160" y="4389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pricing for customers paying &gt;$70/month to reduce churn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32320" y="4206240"/>
            <a:ext cx="1280160" cy="365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132320" y="42062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Impact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&amp; Implementation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Deployment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 weeks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model to production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with CRM system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5603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256032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2011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423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8346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model performance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churn predictions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1371600"/>
            <a:ext cx="25603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1371600"/>
            <a:ext cx="256032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936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2011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2423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28346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 with new 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features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Success Metrics: 5% reduction in churn rate within 6 months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Clean, comprehensive dataset with 100% completeness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Strong relationships identified between customer behavior and churn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Random Forest model achieves 82.3% accuracy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Actionable insights for retention strategies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Clear roadmap for implementation and monitoring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Deployment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639</Words>
  <Application>Microsoft Office PowerPoint</Application>
  <PresentationFormat>On-screen Show (16:9)</PresentationFormat>
  <Paragraphs>180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 Customer Churn Analysis</dc:title>
  <dc:subject>PptxGenJS Presentation</dc:subject>
  <dc:creator>Data Analysis Team</dc:creator>
  <cp:lastModifiedBy>Basant Saad</cp:lastModifiedBy>
  <cp:revision>3</cp:revision>
  <dcterms:created xsi:type="dcterms:W3CDTF">2026-02-06T23:40:02Z</dcterms:created>
  <dcterms:modified xsi:type="dcterms:W3CDTF">2026-02-07T03:34:01Z</dcterms:modified>
</cp:coreProperties>
</file>